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11315700" cx="20116800"/>
  <p:notesSz cx="20116800" cy="11315700"/>
  <p:embeddedFontLst>
    <p:embeddedFont>
      <p:font typeface="Montserrat"/>
      <p:bold r:id="rId23"/>
      <p:boldItalic r:id="rId24"/>
    </p:embeddedFont>
    <p:embeddedFont>
      <p:font typeface="Montserrat Medium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3A13234-A77F-4364-8560-6044BAA35EF2}">
  <a:tblStyle styleId="{A3A13234-A77F-4364-8560-6044BAA35E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Medium-bold.fntdata"/><Relationship Id="rId25" Type="http://schemas.openxmlformats.org/officeDocument/2006/relationships/font" Target="fonts/MontserratMedium-regular.fntdata"/><Relationship Id="rId28" Type="http://schemas.openxmlformats.org/officeDocument/2006/relationships/font" Target="fonts/MontserratMedium-boldItalic.fntdata"/><Relationship Id="rId27" Type="http://schemas.openxmlformats.org/officeDocument/2006/relationships/font" Target="fonts/Montserrat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353450" y="848675"/>
            <a:ext cx="13411850" cy="4243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2011675" y="5374950"/>
            <a:ext cx="16093425" cy="50920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da14ecaa6d_0_0:notes"/>
          <p:cNvSpPr/>
          <p:nvPr>
            <p:ph idx="2" type="sldImg"/>
          </p:nvPr>
        </p:nvSpPr>
        <p:spPr>
          <a:xfrm>
            <a:off x="3353450" y="848675"/>
            <a:ext cx="13411800" cy="42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" name="Google Shape;19;g3da14ecaa6d_0_0:notes"/>
          <p:cNvSpPr txBox="1"/>
          <p:nvPr>
            <p:ph idx="1" type="body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things today: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StackQL in five minutes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what changes when agents write to your estate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and how to embed the MCP server in a Rust binary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f151dc251d_0_0:notes"/>
          <p:cNvSpPr/>
          <p:nvPr>
            <p:ph idx="2" type="sldImg"/>
          </p:nvPr>
        </p:nvSpPr>
        <p:spPr>
          <a:xfrm>
            <a:off x="3353450" y="848675"/>
            <a:ext cx="13411800" cy="42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" name="Google Shape;26;g3f151dc251d_0_0:notes"/>
          <p:cNvSpPr txBox="1"/>
          <p:nvPr>
            <p:ph idx="1" type="body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Cloud and SaaS providers as data sources accessed via SQL.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/>
              <a:t>Query and change live state.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No server, no database, no state file: the engine calls the provider APIs at query time.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f1548bd4bb_0_0:notes"/>
          <p:cNvSpPr txBox="1"/>
          <p:nvPr>
            <p:ph idx="1" type="body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Providers are OpenAPI-derived interface documents pulled from a registry; 40+ providers, community extensible.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SELECT for reads, INSERT/UPDATE/REPLACE/DELETE for writes, EXEC for lifecycle methods.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The planner builds a DAG: remote calls where it must, local relational work (joins, aggregates, SQLite functions) where it can.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g3f1548bd4bb_0_0:notes"/>
          <p:cNvSpPr/>
          <p:nvPr>
            <p:ph idx="2" type="sldImg"/>
          </p:nvPr>
        </p:nvSpPr>
        <p:spPr>
          <a:xfrm>
            <a:off x="3353450" y="848675"/>
            <a:ext cx="13411800" cy="42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8033a31ea_0_13:notes"/>
          <p:cNvSpPr txBox="1"/>
          <p:nvPr>
            <p:ph idx="1" type="body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e8033a31ea_0_13:notes"/>
          <p:cNvSpPr/>
          <p:nvPr>
            <p:ph idx="2" type="sldImg"/>
          </p:nvPr>
        </p:nvSpPr>
        <p:spPr>
          <a:xfrm>
            <a:off x="3353450" y="848675"/>
            <a:ext cx="13411800" cy="42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8033a31ea_0_130:notes"/>
          <p:cNvSpPr/>
          <p:nvPr>
            <p:ph idx="2" type="sldImg"/>
          </p:nvPr>
        </p:nvSpPr>
        <p:spPr>
          <a:xfrm>
            <a:off x="3353450" y="848675"/>
            <a:ext cx="13411800" cy="42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8033a31ea_0_130:notes"/>
          <p:cNvSpPr txBox="1"/>
          <p:nvPr>
            <p:ph idx="1" type="body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why does any of this matter for platform engineering, SRE, XOps?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Because agents are about to become writers to your estate, and the tooling assumes they are not.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156dd5659_0_23:notes"/>
          <p:cNvSpPr txBox="1"/>
          <p:nvPr>
            <p:ph idx="1" type="body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IaC was based upon four assumptions, all of which were reasonable ten years ago, now all inverted.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Humans authored the changes.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Changes happened at human timescales, which is to say minutes to days.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One writer per environment, enforced by review and state locking.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And drift was an exception, something you fixed and then went back to the steady state.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A state file is a snapshot of one writer's belief.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With multiple writers it is wrong by construction.</a:t>
            </a:r>
            <a:endParaRPr/>
          </a:p>
        </p:txBody>
      </p:sp>
      <p:sp>
        <p:nvSpPr>
          <p:cNvPr id="84" name="Google Shape;84;g3f156dd5659_0_23:notes"/>
          <p:cNvSpPr/>
          <p:nvPr>
            <p:ph idx="2" type="sldImg"/>
          </p:nvPr>
        </p:nvSpPr>
        <p:spPr>
          <a:xfrm>
            <a:off x="3353450" y="848675"/>
            <a:ext cx="13411800" cy="42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8033a31ea_0_246:notes"/>
          <p:cNvSpPr txBox="1"/>
          <p:nvPr>
            <p:ph idx="1" type="body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 agent's context has to be the running estate, not a plan file.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e8033a31ea_0_246:notes"/>
          <p:cNvSpPr/>
          <p:nvPr>
            <p:ph idx="2" type="sldImg"/>
          </p:nvPr>
        </p:nvSpPr>
        <p:spPr>
          <a:xfrm>
            <a:off x="3353450" y="848675"/>
            <a:ext cx="13411800" cy="42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8033a31ea_0_214:notes"/>
          <p:cNvSpPr txBox="1"/>
          <p:nvPr>
            <p:ph idx="1" type="body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with </a:t>
            </a:r>
            <a:r>
              <a:rPr lang="en-US"/>
              <a:t>Infrastructure-as-Code: the intent lived in the code.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with Infrastructure-as-Context: </a:t>
            </a:r>
            <a:r>
              <a:rPr lang="en-US">
                <a:solidFill>
                  <a:schemeClr val="dk1"/>
                </a:solidFill>
              </a:rPr>
              <a:t>a</a:t>
            </a:r>
            <a:r>
              <a:rPr lang="en-US">
                <a:solidFill>
                  <a:schemeClr val="dk1"/>
                </a:solidFill>
              </a:rPr>
              <a:t>gents need to query, reason about, and act on actual state.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Code does not disappear. It - along with the state file - just stops being the contract.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e8033a31ea_0_214:notes"/>
          <p:cNvSpPr/>
          <p:nvPr>
            <p:ph idx="2" type="sldImg"/>
          </p:nvPr>
        </p:nvSpPr>
        <p:spPr>
          <a:xfrm>
            <a:off x="3353450" y="848675"/>
            <a:ext cx="13411800" cy="42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156dd5659_0_16:notes"/>
          <p:cNvSpPr/>
          <p:nvPr>
            <p:ph idx="2" type="sldImg"/>
          </p:nvPr>
        </p:nvSpPr>
        <p:spPr>
          <a:xfrm>
            <a:off x="3353450" y="848675"/>
            <a:ext cx="13411800" cy="42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156dd5659_0_16:notes"/>
          <p:cNvSpPr txBox="1"/>
          <p:nvPr>
            <p:ph idx="1" type="body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agent interface to the engine. Same SQL, served over MCP.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159e4a79d_0_0:notes"/>
          <p:cNvSpPr txBox="1"/>
          <p:nvPr>
            <p:ph idx="1" type="body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One MCP server, one SQL surface, every provider. Instead of N bespoke tool servers with N auth schemes.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Runs over stdio or HTTP; the host here is our own Rust app, but it is the same server Claude Desktop, Cursor, npx and uvx users run.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Credentials stay server-side in the process environment; the model never sees them.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f159e4a79d_0_0:notes"/>
          <p:cNvSpPr/>
          <p:nvPr>
            <p:ph idx="2" type="sldImg"/>
          </p:nvPr>
        </p:nvSpPr>
        <p:spPr>
          <a:xfrm>
            <a:off x="3353450" y="848675"/>
            <a:ext cx="13411800" cy="42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159e4a79d_0_36:notes"/>
          <p:cNvSpPr txBox="1"/>
          <p:nvPr>
            <p:ph idx="1" type="body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Discovery tools let the model drill provider -&gt; service -&gt; resource -&gt; methods before writing SQL, so it does not guess table names.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Modes are a server-side contract: `read_only` refuses writes however the model is prompted; `safe` and `delete_safe` send an MCP elicitation request and wait for a human; a client that cannot answer gets a refusal. `full_access` is the explicit opt-in.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Every tool call is audited as JSONL (SQL, decision, duration; never result rows).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f159e4a79d_0_36:notes"/>
          <p:cNvSpPr/>
          <p:nvPr>
            <p:ph idx="2" type="sldImg"/>
          </p:nvPr>
        </p:nvSpPr>
        <p:spPr>
          <a:xfrm>
            <a:off x="3353450" y="848675"/>
            <a:ext cx="13411800" cy="42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156dd5659_0_8:notes"/>
          <p:cNvSpPr/>
          <p:nvPr>
            <p:ph idx="2" type="sldImg"/>
          </p:nvPr>
        </p:nvSpPr>
        <p:spPr>
          <a:xfrm>
            <a:off x="3353450" y="848675"/>
            <a:ext cx="13411800" cy="42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f156dd5659_0_8:notes"/>
          <p:cNvSpPr txBox="1"/>
          <p:nvPr>
            <p:ph idx="1" type="body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Normal MCP topology: a server you deploy and operate, clients connect to it.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/>
              <a:t>Fine for shared capability, wrong for software you hand to someone else.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With embedded MCP the app owns the server lifecycle. Acquire, spawn as a child, handshake, hand back a client.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/>
              <a:t>The server becomes an implementation detail.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159e4a79d_0_7:notes"/>
          <p:cNvSpPr txBox="1"/>
          <p:nvPr>
            <p:ph idx="1" type="body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Same builder, same connected client, one line of difference. You pick at build time.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Sidecar: the crate carries sha256 pins rendered from the release; first run downloads that exact bundle from releases.stackql.io, verifies, caches. Cache is shared with the npm and PyPI wrappers, so a polyglot host downloads once.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Vendored: bundle fetched at build time and compiled in; nothing to download, one file to ship.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f159e4a79d_0_7:notes"/>
          <p:cNvSpPr/>
          <p:nvPr>
            <p:ph idx="2" type="sldImg"/>
          </p:nvPr>
        </p:nvSpPr>
        <p:spPr>
          <a:xfrm>
            <a:off x="3353450" y="848675"/>
            <a:ext cx="13411800" cy="42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159e4a79d_0_13:notes"/>
          <p:cNvSpPr txBox="1"/>
          <p:nvPr>
            <p:ph idx="1" type="body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cache check, download and verify on a miss, spawn `stackql mcp` over stdio, MCP initialize, and you get rmcp's `RunningService` back.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rmcp is the official Rust MCP SDK; tokio is the async runtime that drives the child's stdio.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Escape hatches: `STACKQL_MCP_BIN`, `STACKQL_MCP_BUNDLE`, `Builder::command()` for bring-your-own MCP stack (steward uses it to answer approval prompts).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f159e4a79d_0_13:notes"/>
          <p:cNvSpPr/>
          <p:nvPr>
            <p:ph idx="2" type="sldImg"/>
          </p:nvPr>
        </p:nvSpPr>
        <p:spPr>
          <a:xfrm>
            <a:off x="3353450" y="848675"/>
            <a:ext cx="13411800" cy="42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159e4a79d_0_19:notes"/>
          <p:cNvSpPr txBox="1"/>
          <p:nvPr>
            <p:ph idx="1" type="body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`build.rs` calls `fetch_bundle()` once at build time, and `include_bundle!()`. `include_bytes!` is a language feature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First run extracts from the binary into the same cache and starts.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`STACKQL_MCP_BUNDLE_FILE` to embed a bundle you already have.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f159e4a79d_0_19:notes"/>
          <p:cNvSpPr/>
          <p:nvPr>
            <p:ph idx="2" type="sldImg"/>
          </p:nvPr>
        </p:nvSpPr>
        <p:spPr>
          <a:xfrm>
            <a:off x="3353450" y="848675"/>
            <a:ext cx="13411800" cy="42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16f8d8aa5_0_0:notes"/>
          <p:cNvSpPr/>
          <p:nvPr>
            <p:ph idx="2" type="sldImg"/>
          </p:nvPr>
        </p:nvSpPr>
        <p:spPr>
          <a:xfrm>
            <a:off x="3353450" y="848675"/>
            <a:ext cx="13411800" cy="42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e16f8d8aa5_0_0:notes"/>
          <p:cNvSpPr txBox="1"/>
          <p:nvPr>
            <p:ph idx="1" type="body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a14ecaa6d_0_48:notes"/>
          <p:cNvSpPr/>
          <p:nvPr>
            <p:ph idx="2" type="sldImg"/>
          </p:nvPr>
        </p:nvSpPr>
        <p:spPr>
          <a:xfrm>
            <a:off x="3353450" y="848675"/>
            <a:ext cx="13411800" cy="424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da14ecaa6d_0_48:notes"/>
          <p:cNvSpPr txBox="1"/>
          <p:nvPr>
            <p:ph idx="1" type="body"/>
          </p:nvPr>
        </p:nvSpPr>
        <p:spPr>
          <a:xfrm>
            <a:off x="2011675" y="5374950"/>
            <a:ext cx="16093500" cy="50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88888"/>
                </a:solidFill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Relationship Id="rId4" Type="http://schemas.openxmlformats.org/officeDocument/2006/relationships/image" Target="../media/image16.png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/>
        </p:nvSpPr>
        <p:spPr>
          <a:xfrm>
            <a:off x="1923047" y="7765968"/>
            <a:ext cx="855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3FAC92"/>
                </a:solidFill>
                <a:latin typeface="Montserrat"/>
                <a:ea typeface="Montserrat"/>
                <a:cs typeface="Montserrat"/>
                <a:sym typeface="Montserrat"/>
              </a:rPr>
              <a:t>Presenter</a:t>
            </a:r>
            <a:r>
              <a:rPr b="1" lang="en-US" sz="3000">
                <a:solidFill>
                  <a:srgbClr val="3FAC92"/>
                </a:solidFill>
                <a:latin typeface="Montserrat"/>
                <a:ea typeface="Montserrat"/>
                <a:cs typeface="Montserrat"/>
                <a:sym typeface="Montserrat"/>
              </a:rPr>
              <a:t>: Jeffrey Aven</a:t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6407775" y="10448700"/>
            <a:ext cx="34440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3800">
              <a:solidFill>
                <a:schemeClr val="lt1"/>
              </a:solidFill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923047" y="5581846"/>
            <a:ext cx="14801700" cy="45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5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RUST-NATIVE AGENTIC PLATFORM ENGINEERING WITH EMBEDDED MCP</a:t>
            </a:r>
            <a:endParaRPr b="1" sz="765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4D8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12579750" y="0"/>
            <a:ext cx="7541400" cy="11315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" name="Google Shape;29;p4"/>
          <p:cNvSpPr txBox="1"/>
          <p:nvPr/>
        </p:nvSpPr>
        <p:spPr>
          <a:xfrm>
            <a:off x="634202" y="526867"/>
            <a:ext cx="121980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STACKQL &gt;&gt;</a:t>
            </a:r>
            <a:endParaRPr b="1" sz="5650">
              <a:solidFill>
                <a:srgbClr val="3FAC9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0" name="Google Shape;30;p4"/>
          <p:cNvCxnSpPr/>
          <p:nvPr/>
        </p:nvCxnSpPr>
        <p:spPr>
          <a:xfrm>
            <a:off x="634182" y="1541104"/>
            <a:ext cx="11120100" cy="90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" name="Google Shape;31;p4"/>
          <p:cNvSpPr txBox="1"/>
          <p:nvPr/>
        </p:nvSpPr>
        <p:spPr>
          <a:xfrm>
            <a:off x="2031891" y="4253100"/>
            <a:ext cx="10005000" cy="15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Query and Interact in Real</a:t>
            </a:r>
            <a:endParaRPr sz="1200"/>
          </a:p>
          <a:p>
            <a:pPr indent="0" lvl="0" marL="0" marR="0" rtl="0" algn="l">
              <a:lnSpc>
                <a:spcPct val="99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Time using SQL</a:t>
            </a:r>
            <a:endParaRPr sz="1200"/>
          </a:p>
        </p:txBody>
      </p:sp>
      <p:sp>
        <p:nvSpPr>
          <p:cNvPr id="32" name="Google Shape;32;p4"/>
          <p:cNvSpPr txBox="1"/>
          <p:nvPr/>
        </p:nvSpPr>
        <p:spPr>
          <a:xfrm>
            <a:off x="2031892" y="6108825"/>
            <a:ext cx="10005000" cy="15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Seamless Integration with</a:t>
            </a:r>
            <a:endParaRPr sz="1200"/>
          </a:p>
          <a:p>
            <a:pPr indent="0" lvl="0" marL="0" marR="0" rtl="0" algn="l">
              <a:lnSpc>
                <a:spcPct val="99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Existing Systems</a:t>
            </a:r>
            <a:endParaRPr sz="1200"/>
          </a:p>
        </p:txBody>
      </p:sp>
      <p:pic>
        <p:nvPicPr>
          <p:cNvPr id="33" name="Google Shape;33;p4" title="check_blue.png"/>
          <p:cNvPicPr preferRelativeResize="0"/>
          <p:nvPr/>
        </p:nvPicPr>
        <p:blipFill rotWithShape="1">
          <a:blip r:embed="rId4">
            <a:alphaModFix/>
          </a:blip>
          <a:srcRect b="5567" l="19920" r="19201" t="7718"/>
          <a:stretch/>
        </p:blipFill>
        <p:spPr>
          <a:xfrm>
            <a:off x="634191" y="4661949"/>
            <a:ext cx="863655" cy="869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4" title="check_blue.png"/>
          <p:cNvPicPr preferRelativeResize="0"/>
          <p:nvPr/>
        </p:nvPicPr>
        <p:blipFill rotWithShape="1">
          <a:blip r:embed="rId4">
            <a:alphaModFix/>
          </a:blip>
          <a:srcRect b="5567" l="19920" r="19201" t="7718"/>
          <a:stretch/>
        </p:blipFill>
        <p:spPr>
          <a:xfrm>
            <a:off x="634191" y="6418490"/>
            <a:ext cx="863655" cy="869698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1998166" y="8278750"/>
            <a:ext cx="9756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Analyst Friendly, Agent Native</a:t>
            </a:r>
            <a:endParaRPr sz="1200"/>
          </a:p>
        </p:txBody>
      </p:sp>
      <p:pic>
        <p:nvPicPr>
          <p:cNvPr id="37" name="Google Shape;37;p4" title="check_blue.png"/>
          <p:cNvPicPr preferRelativeResize="0"/>
          <p:nvPr/>
        </p:nvPicPr>
        <p:blipFill rotWithShape="1">
          <a:blip r:embed="rId4">
            <a:alphaModFix/>
          </a:blip>
          <a:srcRect b="5567" l="19920" r="19201" t="7718"/>
          <a:stretch/>
        </p:blipFill>
        <p:spPr>
          <a:xfrm>
            <a:off x="634191" y="8228674"/>
            <a:ext cx="863655" cy="86969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/>
          <p:nvPr/>
        </p:nvSpPr>
        <p:spPr>
          <a:xfrm>
            <a:off x="456400" y="10201225"/>
            <a:ext cx="5390400" cy="5859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47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CONFIGURATION-AS-</a:t>
            </a:r>
            <a:r>
              <a:rPr b="1" lang="en-US" sz="2500">
                <a:solidFill>
                  <a:srgbClr val="00FF00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sz="2500">
              <a:solidFill>
                <a:srgbClr val="00FF00"/>
              </a:solidFill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2044491" y="2426750"/>
            <a:ext cx="9709800" cy="14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91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Unified Cross-Plane Analytics, Automation and IaC</a:t>
            </a:r>
            <a:endParaRPr sz="1200"/>
          </a:p>
        </p:txBody>
      </p:sp>
      <p:pic>
        <p:nvPicPr>
          <p:cNvPr id="40" name="Google Shape;40;p4" title="check_blue.png"/>
          <p:cNvPicPr preferRelativeResize="0"/>
          <p:nvPr/>
        </p:nvPicPr>
        <p:blipFill rotWithShape="1">
          <a:blip r:embed="rId4">
            <a:alphaModFix/>
          </a:blip>
          <a:srcRect b="5567" l="19920" r="19201" t="7718"/>
          <a:stretch/>
        </p:blipFill>
        <p:spPr>
          <a:xfrm>
            <a:off x="646791" y="2835599"/>
            <a:ext cx="863655" cy="869698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/>
          <p:nvPr/>
        </p:nvSpPr>
        <p:spPr>
          <a:xfrm>
            <a:off x="6384225" y="10201225"/>
            <a:ext cx="5804700" cy="58590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47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INFRASTRUCTURE</a:t>
            </a:r>
            <a:r>
              <a:rPr b="1" lang="en-US" sz="2547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-AS-</a:t>
            </a:r>
            <a:r>
              <a:rPr b="1" lang="en-US" sz="2500">
                <a:solidFill>
                  <a:srgbClr val="00FF00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endParaRPr sz="25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/>
          <p:nvPr/>
        </p:nvSpPr>
        <p:spPr>
          <a:xfrm>
            <a:off x="634993" y="752700"/>
            <a:ext cx="169569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5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Cloud Providers as Data Sources</a:t>
            </a:r>
            <a:endParaRPr/>
          </a:p>
        </p:txBody>
      </p:sp>
      <p:sp>
        <p:nvSpPr>
          <p:cNvPr id="47" name="Google Shape;47;p5"/>
          <p:cNvSpPr txBox="1"/>
          <p:nvPr/>
        </p:nvSpPr>
        <p:spPr>
          <a:xfrm>
            <a:off x="1519261" y="2691750"/>
            <a:ext cx="10080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Open-Source intelligent API client</a:t>
            </a:r>
            <a:endParaRPr sz="4200"/>
          </a:p>
        </p:txBody>
      </p:sp>
      <p:sp>
        <p:nvSpPr>
          <p:cNvPr id="48" name="Google Shape;48;p5"/>
          <p:cNvSpPr txBox="1"/>
          <p:nvPr/>
        </p:nvSpPr>
        <p:spPr>
          <a:xfrm>
            <a:off x="2540069" y="3667800"/>
            <a:ext cx="846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Protocol Agnostic</a:t>
            </a:r>
            <a:endParaRPr sz="4200"/>
          </a:p>
        </p:txBody>
      </p:sp>
      <p:sp>
        <p:nvSpPr>
          <p:cNvPr id="49" name="Google Shape;49;p5"/>
          <p:cNvSpPr txBox="1"/>
          <p:nvPr/>
        </p:nvSpPr>
        <p:spPr>
          <a:xfrm>
            <a:off x="1519262" y="6185929"/>
            <a:ext cx="9493500" cy="13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SQL semantics for Cloud/SaaS Provider APIs</a:t>
            </a:r>
            <a:endParaRPr sz="4200"/>
          </a:p>
        </p:txBody>
      </p:sp>
      <p:sp>
        <p:nvSpPr>
          <p:cNvPr id="50" name="Google Shape;50;p5"/>
          <p:cNvSpPr txBox="1"/>
          <p:nvPr/>
        </p:nvSpPr>
        <p:spPr>
          <a:xfrm>
            <a:off x="2540088" y="7727325"/>
            <a:ext cx="8367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920"/>
              </a:lnSpc>
              <a:spcBef>
                <a:spcPts val="7675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Relational algebra, analytics</a:t>
            </a:r>
            <a:endParaRPr sz="4200">
              <a:solidFill>
                <a:srgbClr val="0A4D8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51" name="Google Shape;51;p5"/>
          <p:cNvCxnSpPr/>
          <p:nvPr/>
        </p:nvCxnSpPr>
        <p:spPr>
          <a:xfrm flipH="1" rot="10800000">
            <a:off x="711375" y="1903350"/>
            <a:ext cx="12150600" cy="9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" name="Google Shape;52;p5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  <p:pic>
        <p:nvPicPr>
          <p:cNvPr id="53" name="Google Shape;53;p5" title="check_white.png"/>
          <p:cNvPicPr preferRelativeResize="0"/>
          <p:nvPr/>
        </p:nvPicPr>
        <p:blipFill rotWithShape="1">
          <a:blip r:embed="rId3">
            <a:alphaModFix/>
          </a:blip>
          <a:srcRect b="6989" l="19873" r="18830" t="6304"/>
          <a:stretch/>
        </p:blipFill>
        <p:spPr>
          <a:xfrm>
            <a:off x="683400" y="2706650"/>
            <a:ext cx="616675" cy="61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5" title="check_white.png"/>
          <p:cNvPicPr preferRelativeResize="0"/>
          <p:nvPr/>
        </p:nvPicPr>
        <p:blipFill rotWithShape="1">
          <a:blip r:embed="rId3">
            <a:alphaModFix/>
          </a:blip>
          <a:srcRect b="6989" l="19873" r="18830" t="6304"/>
          <a:stretch/>
        </p:blipFill>
        <p:spPr>
          <a:xfrm>
            <a:off x="1704202" y="3682712"/>
            <a:ext cx="616675" cy="61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5" title="check_white.png"/>
          <p:cNvPicPr preferRelativeResize="0"/>
          <p:nvPr/>
        </p:nvPicPr>
        <p:blipFill rotWithShape="1">
          <a:blip r:embed="rId3">
            <a:alphaModFix/>
          </a:blip>
          <a:srcRect b="6989" l="19873" r="18830" t="6304"/>
          <a:stretch/>
        </p:blipFill>
        <p:spPr>
          <a:xfrm>
            <a:off x="683400" y="6200837"/>
            <a:ext cx="616675" cy="61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5" title="check_white.png"/>
          <p:cNvPicPr preferRelativeResize="0"/>
          <p:nvPr/>
        </p:nvPicPr>
        <p:blipFill rotWithShape="1">
          <a:blip r:embed="rId3">
            <a:alphaModFix/>
          </a:blip>
          <a:srcRect b="6989" l="19873" r="18830" t="6304"/>
          <a:stretch/>
        </p:blipFill>
        <p:spPr>
          <a:xfrm>
            <a:off x="1704218" y="7742246"/>
            <a:ext cx="616675" cy="61667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 txBox="1"/>
          <p:nvPr/>
        </p:nvSpPr>
        <p:spPr>
          <a:xfrm>
            <a:off x="2540069" y="4644525"/>
            <a:ext cx="8469000" cy="13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DAG planning for remote and local execution</a:t>
            </a:r>
            <a:endParaRPr sz="4200"/>
          </a:p>
        </p:txBody>
      </p:sp>
      <p:pic>
        <p:nvPicPr>
          <p:cNvPr id="58" name="Google Shape;58;p5" title="check_white.png"/>
          <p:cNvPicPr preferRelativeResize="0"/>
          <p:nvPr/>
        </p:nvPicPr>
        <p:blipFill rotWithShape="1">
          <a:blip r:embed="rId3">
            <a:alphaModFix/>
          </a:blip>
          <a:srcRect b="6989" l="19873" r="18830" t="6304"/>
          <a:stretch/>
        </p:blipFill>
        <p:spPr>
          <a:xfrm>
            <a:off x="1704202" y="4659437"/>
            <a:ext cx="616675" cy="616674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 txBox="1"/>
          <p:nvPr/>
        </p:nvSpPr>
        <p:spPr>
          <a:xfrm>
            <a:off x="2540088" y="8857075"/>
            <a:ext cx="8367300" cy="13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920"/>
              </a:lnSpc>
              <a:spcBef>
                <a:spcPts val="7675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CRUD, Discovery and Lifecycle Methods</a:t>
            </a:r>
            <a:endParaRPr sz="4200">
              <a:solidFill>
                <a:srgbClr val="0A4D8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60" name="Google Shape;60;p5" title="check_white.png"/>
          <p:cNvPicPr preferRelativeResize="0"/>
          <p:nvPr/>
        </p:nvPicPr>
        <p:blipFill rotWithShape="1">
          <a:blip r:embed="rId3">
            <a:alphaModFix/>
          </a:blip>
          <a:srcRect b="6989" l="19873" r="18830" t="6304"/>
          <a:stretch/>
        </p:blipFill>
        <p:spPr>
          <a:xfrm>
            <a:off x="1704218" y="8871996"/>
            <a:ext cx="616675" cy="61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5" title="cloud_as_dat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85234" y="2496574"/>
            <a:ext cx="8799238" cy="6406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 txBox="1"/>
          <p:nvPr/>
        </p:nvSpPr>
        <p:spPr>
          <a:xfrm>
            <a:off x="634993" y="752700"/>
            <a:ext cx="169569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5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How to use StackQL</a:t>
            </a:r>
            <a:endParaRPr>
              <a:solidFill>
                <a:srgbClr val="0A4D81"/>
              </a:solidFill>
            </a:endParaRPr>
          </a:p>
        </p:txBody>
      </p:sp>
      <p:sp>
        <p:nvSpPr>
          <p:cNvPr id="67" name="Google Shape;67;p6"/>
          <p:cNvSpPr txBox="1"/>
          <p:nvPr/>
        </p:nvSpPr>
        <p:spPr>
          <a:xfrm>
            <a:off x="635000" y="1757825"/>
            <a:ext cx="19373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One execution engine. Multiple human/agent consumption patterns.</a:t>
            </a:r>
            <a:endParaRPr sz="4200"/>
          </a:p>
        </p:txBody>
      </p:sp>
      <p:sp>
        <p:nvSpPr>
          <p:cNvPr id="68" name="Google Shape;68;p6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  <p:graphicFrame>
        <p:nvGraphicFramePr>
          <p:cNvPr id="69" name="Google Shape;69;p6"/>
          <p:cNvGraphicFramePr/>
          <p:nvPr/>
        </p:nvGraphicFramePr>
        <p:xfrm>
          <a:off x="793425" y="32246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{A3A13234-A77F-4364-8560-6044BAA35EF2}</a:tableStyleId>
              </a:tblPr>
              <a:tblGrid>
                <a:gridCol w="1892300"/>
                <a:gridCol w="3065625"/>
                <a:gridCol w="5491850"/>
                <a:gridCol w="4119625"/>
                <a:gridCol w="3642350"/>
              </a:tblGrid>
              <a:tr h="2237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4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PATTERN</a:t>
                      </a:r>
                      <a:r>
                        <a:rPr b="1" lang="en-US" sz="34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34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INTERFACE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34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USERS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34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KEY BENEFIT</a:t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143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50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Interactive Analytics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stackql shell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rtl="0" algn="l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2800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stackql exec</a:t>
                      </a:r>
                      <a:endParaRPr b="1" sz="100"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Engineers, Analysts</a:t>
                      </a:r>
                      <a:endParaRPr sz="1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Ad-hoc discovery, inventory</a:t>
                      </a:r>
                      <a:endParaRPr sz="1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Application &amp; Data Integration</a:t>
                      </a:r>
                      <a:endParaRPr sz="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stackql srv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rtl="0" algn="l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docker pull</a:t>
                      </a:r>
                      <a:endParaRPr b="1" sz="2800">
                        <a:solidFill>
                          <a:srgbClr val="0000FF"/>
                        </a:solidFill>
                        <a:highlight>
                          <a:schemeClr val="lt1"/>
                        </a:highlight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2800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pystackql</a:t>
                      </a:r>
                      <a:endParaRPr sz="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Apps, BI Tools, Python Workloads</a:t>
                      </a:r>
                      <a:endParaRPr sz="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Application access to Cloud and SaaS APIs</a:t>
                      </a:r>
                      <a:endParaRPr sz="1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Platform Automation</a:t>
                      </a:r>
                      <a:endParaRPr sz="1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stackql-deploy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  <a:p>
                      <a:pPr indent="0" lvl="0" marL="0" rtl="0" algn="l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Marketplace GitHub Actions</a:t>
                      </a:r>
                      <a:endParaRPr sz="1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Platform &amp; DevOps Teams</a:t>
                      </a:r>
                      <a:endParaRPr sz="1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Declarative automation and IaC</a:t>
                      </a:r>
                      <a:endParaRPr sz="1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11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400"/>
                    </a:p>
                  </a:txBody>
                  <a:tcPr marT="91425" marB="91425" marR="91425" marL="91425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Agentic Operations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MCP (</a:t>
                      </a:r>
                      <a:r>
                        <a:rPr b="1" lang="en-US" sz="2800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uv</a:t>
                      </a: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,  </a:t>
                      </a:r>
                      <a:r>
                        <a:rPr b="1" lang="en-US" sz="2800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pip</a:t>
                      </a: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, </a:t>
                      </a:r>
                      <a:r>
                        <a:rPr b="1" lang="en-US" sz="2800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npx</a:t>
                      </a: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, </a:t>
                      </a:r>
                      <a:r>
                        <a:rPr b="1" lang="en-US" sz="2800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docker</a:t>
                      </a: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, </a:t>
                      </a:r>
                      <a:r>
                        <a:rPr b="1" lang="en-US" sz="2800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mcpb</a:t>
                      </a: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)</a:t>
                      </a:r>
                      <a:endParaRPr sz="1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AI Agents &amp; Agent Frameworks</a:t>
                      </a:r>
                      <a:endParaRPr sz="1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Context-aware cloud operations</a:t>
                      </a:r>
                      <a:endParaRPr sz="1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70" name="Google Shape;70;p6" title="terminal_100dp_0A4D81_FILL0_wght400_GRAD0_opsz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0847" y="4274464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6" title="database_100dp_0A4D81_FILL0_wght400_GRAD0_opsz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5725" y="5670824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6" title="neurology_100dp_0A4D81_FILL0_wght400_GRAD0_opsz4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25725" y="8751299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6" title="settings_100dp_0A4D81_FILL0_wght400_GRAD0_opsz4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95963" y="7246175"/>
            <a:ext cx="882275" cy="882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"/>
          <p:cNvSpPr txBox="1"/>
          <p:nvPr/>
        </p:nvSpPr>
        <p:spPr>
          <a:xfrm>
            <a:off x="2074047" y="4490788"/>
            <a:ext cx="15280500" cy="18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50">
                <a:solidFill>
                  <a:srgbClr val="3FAC92"/>
                </a:solidFill>
                <a:latin typeface="Montserrat"/>
                <a:ea typeface="Montserrat"/>
                <a:cs typeface="Montserrat"/>
                <a:sym typeface="Montserrat"/>
              </a:rPr>
              <a:t>Platform Engineering, XOps, and SRE in the Agent Era</a:t>
            </a:r>
            <a:endParaRPr sz="2000"/>
          </a:p>
        </p:txBody>
      </p:sp>
      <p:sp>
        <p:nvSpPr>
          <p:cNvPr id="79" name="Google Shape;79;p7"/>
          <p:cNvSpPr/>
          <p:nvPr/>
        </p:nvSpPr>
        <p:spPr>
          <a:xfrm>
            <a:off x="2074050" y="1803444"/>
            <a:ext cx="14801700" cy="24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5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PLATFORM OPS</a:t>
            </a:r>
            <a:endParaRPr b="1" sz="765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0" name="Google Shape;80;p7"/>
          <p:cNvCxnSpPr/>
          <p:nvPr/>
        </p:nvCxnSpPr>
        <p:spPr>
          <a:xfrm>
            <a:off x="2074050" y="3819179"/>
            <a:ext cx="13010100" cy="9000"/>
          </a:xfrm>
          <a:prstGeom prst="straightConnector1">
            <a:avLst/>
          </a:prstGeom>
          <a:noFill/>
          <a:ln cap="flat" cmpd="sng" w="76200">
            <a:solidFill>
              <a:srgbClr val="3FAC9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" name="Google Shape;81;p7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8"/>
          <p:cNvSpPr txBox="1"/>
          <p:nvPr/>
        </p:nvSpPr>
        <p:spPr>
          <a:xfrm>
            <a:off x="559852" y="1052150"/>
            <a:ext cx="181857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5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IaC/PLATFORM OPS IN THE AGENT ERA</a:t>
            </a:r>
            <a:endParaRPr/>
          </a:p>
        </p:txBody>
      </p:sp>
      <p:sp>
        <p:nvSpPr>
          <p:cNvPr id="87" name="Google Shape;87;p8"/>
          <p:cNvSpPr txBox="1"/>
          <p:nvPr/>
        </p:nvSpPr>
        <p:spPr>
          <a:xfrm>
            <a:off x="1134780" y="3238738"/>
            <a:ext cx="7997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Humans author the changes.</a:t>
            </a:r>
            <a:endParaRPr sz="4200"/>
          </a:p>
        </p:txBody>
      </p:sp>
      <p:sp>
        <p:nvSpPr>
          <p:cNvPr id="88" name="Google Shape;88;p8"/>
          <p:cNvSpPr txBox="1"/>
          <p:nvPr/>
        </p:nvSpPr>
        <p:spPr>
          <a:xfrm>
            <a:off x="1134781" y="4540588"/>
            <a:ext cx="846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Changes at human timescales.</a:t>
            </a:r>
            <a:endParaRPr sz="4200"/>
          </a:p>
        </p:txBody>
      </p:sp>
      <p:sp>
        <p:nvSpPr>
          <p:cNvPr id="89" name="Google Shape;89;p8"/>
          <p:cNvSpPr txBox="1"/>
          <p:nvPr/>
        </p:nvSpPr>
        <p:spPr>
          <a:xfrm>
            <a:off x="1134780" y="5842438"/>
            <a:ext cx="7802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One writer per environment.</a:t>
            </a:r>
            <a:endParaRPr sz="4200"/>
          </a:p>
        </p:txBody>
      </p:sp>
      <p:sp>
        <p:nvSpPr>
          <p:cNvPr id="90" name="Google Shape;90;p8"/>
          <p:cNvSpPr txBox="1"/>
          <p:nvPr/>
        </p:nvSpPr>
        <p:spPr>
          <a:xfrm>
            <a:off x="1134779" y="7144288"/>
            <a:ext cx="568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920"/>
              </a:lnSpc>
              <a:spcBef>
                <a:spcPts val="7675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Drift is an exception.</a:t>
            </a:r>
            <a:endParaRPr sz="4200">
              <a:solidFill>
                <a:srgbClr val="0A4D8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91" name="Google Shape;91;p8"/>
          <p:cNvCxnSpPr/>
          <p:nvPr/>
        </p:nvCxnSpPr>
        <p:spPr>
          <a:xfrm flipH="1" rot="10800000">
            <a:off x="587800" y="1994250"/>
            <a:ext cx="14836800" cy="9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" name="Google Shape;92;p8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  <p:pic>
        <p:nvPicPr>
          <p:cNvPr id="93" name="Google Shape;93;p8" title="check_white.png"/>
          <p:cNvPicPr preferRelativeResize="0"/>
          <p:nvPr/>
        </p:nvPicPr>
        <p:blipFill rotWithShape="1">
          <a:blip r:embed="rId3">
            <a:alphaModFix/>
          </a:blip>
          <a:srcRect b="6989" l="19873" r="18830" t="6304"/>
          <a:stretch/>
        </p:blipFill>
        <p:spPr>
          <a:xfrm>
            <a:off x="298913" y="3253650"/>
            <a:ext cx="616675" cy="61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8" title="check_white.png"/>
          <p:cNvPicPr preferRelativeResize="0"/>
          <p:nvPr/>
        </p:nvPicPr>
        <p:blipFill rotWithShape="1">
          <a:blip r:embed="rId3">
            <a:alphaModFix/>
          </a:blip>
          <a:srcRect b="6989" l="19873" r="18830" t="6304"/>
          <a:stretch/>
        </p:blipFill>
        <p:spPr>
          <a:xfrm>
            <a:off x="298913" y="4555500"/>
            <a:ext cx="616675" cy="61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8" title="check_white.png"/>
          <p:cNvPicPr preferRelativeResize="0"/>
          <p:nvPr/>
        </p:nvPicPr>
        <p:blipFill rotWithShape="1">
          <a:blip r:embed="rId3">
            <a:alphaModFix/>
          </a:blip>
          <a:srcRect b="6989" l="19873" r="18830" t="6304"/>
          <a:stretch/>
        </p:blipFill>
        <p:spPr>
          <a:xfrm>
            <a:off x="298913" y="5857350"/>
            <a:ext cx="616675" cy="61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8" title="check_white.png"/>
          <p:cNvPicPr preferRelativeResize="0"/>
          <p:nvPr/>
        </p:nvPicPr>
        <p:blipFill rotWithShape="1">
          <a:blip r:embed="rId3">
            <a:alphaModFix/>
          </a:blip>
          <a:srcRect b="6989" l="19873" r="18830" t="6304"/>
          <a:stretch/>
        </p:blipFill>
        <p:spPr>
          <a:xfrm>
            <a:off x="298913" y="7159200"/>
            <a:ext cx="616675" cy="61667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8"/>
          <p:cNvSpPr txBox="1"/>
          <p:nvPr/>
        </p:nvSpPr>
        <p:spPr>
          <a:xfrm>
            <a:off x="7581119" y="2919738"/>
            <a:ext cx="11404200" cy="13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Agents </a:t>
            </a:r>
            <a:r>
              <a:rPr i="1" lang="en-US" sz="4200">
                <a:solidFill>
                  <a:srgbClr val="FF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AND </a:t>
            </a: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humans </a:t>
            </a:r>
            <a:endParaRPr sz="4200">
              <a:solidFill>
                <a:srgbClr val="0A4D8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r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author changes.</a:t>
            </a:r>
            <a:endParaRPr sz="4200"/>
          </a:p>
        </p:txBody>
      </p:sp>
      <p:sp>
        <p:nvSpPr>
          <p:cNvPr id="98" name="Google Shape;98;p8"/>
          <p:cNvSpPr txBox="1"/>
          <p:nvPr/>
        </p:nvSpPr>
        <p:spPr>
          <a:xfrm>
            <a:off x="11260194" y="4582963"/>
            <a:ext cx="768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Changes at machine speed.</a:t>
            </a:r>
            <a:endParaRPr sz="4200"/>
          </a:p>
        </p:txBody>
      </p:sp>
      <p:sp>
        <p:nvSpPr>
          <p:cNvPr id="99" name="Google Shape;99;p8"/>
          <p:cNvSpPr txBox="1"/>
          <p:nvPr/>
        </p:nvSpPr>
        <p:spPr>
          <a:xfrm>
            <a:off x="9591294" y="5909500"/>
            <a:ext cx="9353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Multiple writers, at the same time.</a:t>
            </a:r>
            <a:endParaRPr sz="4200"/>
          </a:p>
        </p:txBody>
      </p:sp>
      <p:sp>
        <p:nvSpPr>
          <p:cNvPr id="100" name="Google Shape;100;p8"/>
          <p:cNvSpPr txBox="1"/>
          <p:nvPr/>
        </p:nvSpPr>
        <p:spPr>
          <a:xfrm>
            <a:off x="12218694" y="7176888"/>
            <a:ext cx="6725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0920"/>
              </a:lnSpc>
              <a:spcBef>
                <a:spcPts val="7675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Drift is the default state.</a:t>
            </a:r>
            <a:endParaRPr sz="4200">
              <a:solidFill>
                <a:srgbClr val="0A4D8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01" name="Google Shape;101;p8" title="check_white.png"/>
          <p:cNvPicPr preferRelativeResize="0"/>
          <p:nvPr/>
        </p:nvPicPr>
        <p:blipFill rotWithShape="1">
          <a:blip r:embed="rId4">
            <a:alphaModFix/>
          </a:blip>
          <a:srcRect b="6989" l="19873" r="18830" t="6304"/>
          <a:stretch/>
        </p:blipFill>
        <p:spPr>
          <a:xfrm>
            <a:off x="19115263" y="3286250"/>
            <a:ext cx="616675" cy="61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8" title="check_white.png"/>
          <p:cNvPicPr preferRelativeResize="0"/>
          <p:nvPr/>
        </p:nvPicPr>
        <p:blipFill rotWithShape="1">
          <a:blip r:embed="rId4">
            <a:alphaModFix/>
          </a:blip>
          <a:srcRect b="6989" l="19873" r="18830" t="6304"/>
          <a:stretch/>
        </p:blipFill>
        <p:spPr>
          <a:xfrm>
            <a:off x="19115263" y="4588100"/>
            <a:ext cx="616675" cy="61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8" title="check_white.png"/>
          <p:cNvPicPr preferRelativeResize="0"/>
          <p:nvPr/>
        </p:nvPicPr>
        <p:blipFill rotWithShape="1">
          <a:blip r:embed="rId4">
            <a:alphaModFix/>
          </a:blip>
          <a:srcRect b="6989" l="19873" r="18830" t="6304"/>
          <a:stretch/>
        </p:blipFill>
        <p:spPr>
          <a:xfrm>
            <a:off x="19115263" y="5889950"/>
            <a:ext cx="616675" cy="616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8" title="check_white.png"/>
          <p:cNvPicPr preferRelativeResize="0"/>
          <p:nvPr/>
        </p:nvPicPr>
        <p:blipFill rotWithShape="1">
          <a:blip r:embed="rId4">
            <a:alphaModFix/>
          </a:blip>
          <a:srcRect b="6989" l="19873" r="18830" t="6304"/>
          <a:stretch/>
        </p:blipFill>
        <p:spPr>
          <a:xfrm>
            <a:off x="19115263" y="7191800"/>
            <a:ext cx="616675" cy="616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9" title="infra-as-contex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499" y="1183600"/>
            <a:ext cx="16740324" cy="941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9"/>
          <p:cNvSpPr txBox="1"/>
          <p:nvPr/>
        </p:nvSpPr>
        <p:spPr>
          <a:xfrm>
            <a:off x="1508750" y="1004700"/>
            <a:ext cx="86721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5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IaC IN THE AGENT ERA</a:t>
            </a:r>
            <a:endParaRPr/>
          </a:p>
        </p:txBody>
      </p:sp>
      <p:cxnSp>
        <p:nvCxnSpPr>
          <p:cNvPr id="111" name="Google Shape;111;p9"/>
          <p:cNvCxnSpPr/>
          <p:nvPr/>
        </p:nvCxnSpPr>
        <p:spPr>
          <a:xfrm flipH="1" rot="10800000">
            <a:off x="1587500" y="1957325"/>
            <a:ext cx="8461800" cy="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9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0"/>
          <p:cNvSpPr txBox="1"/>
          <p:nvPr/>
        </p:nvSpPr>
        <p:spPr>
          <a:xfrm>
            <a:off x="1508750" y="1004700"/>
            <a:ext cx="132360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5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THE NEW CONTRACT</a:t>
            </a:r>
            <a:endParaRPr/>
          </a:p>
        </p:txBody>
      </p:sp>
      <p:cxnSp>
        <p:nvCxnSpPr>
          <p:cNvPr id="118" name="Google Shape;118;p10"/>
          <p:cNvCxnSpPr/>
          <p:nvPr/>
        </p:nvCxnSpPr>
        <p:spPr>
          <a:xfrm flipH="1" rot="10800000">
            <a:off x="1587500" y="1955525"/>
            <a:ext cx="8014800" cy="9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" name="Google Shape;119;p10"/>
          <p:cNvSpPr txBox="1"/>
          <p:nvPr/>
        </p:nvSpPr>
        <p:spPr>
          <a:xfrm>
            <a:off x="1508750" y="3128766"/>
            <a:ext cx="85806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50">
                <a:solidFill>
                  <a:srgbClr val="3FAC92"/>
                </a:solidFill>
                <a:latin typeface="Montserrat"/>
                <a:ea typeface="Montserrat"/>
                <a:cs typeface="Montserrat"/>
                <a:sym typeface="Montserrat"/>
              </a:rPr>
              <a:t>Agents need to query, reason about, and act on actual state. </a:t>
            </a:r>
            <a:endParaRPr i="1" sz="600">
              <a:solidFill>
                <a:srgbClr val="3FAC92"/>
              </a:solidFill>
            </a:endParaRPr>
          </a:p>
        </p:txBody>
      </p:sp>
      <p:sp>
        <p:nvSpPr>
          <p:cNvPr id="120" name="Google Shape;120;p10"/>
          <p:cNvSpPr txBox="1"/>
          <p:nvPr/>
        </p:nvSpPr>
        <p:spPr>
          <a:xfrm>
            <a:off x="1508750" y="5801441"/>
            <a:ext cx="85806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85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Static state and state files are artefacts of slow infrastructure.</a:t>
            </a:r>
            <a:r>
              <a:rPr b="1" i="1" lang="en-US" sz="485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i="1" sz="600">
              <a:solidFill>
                <a:srgbClr val="FF0000"/>
              </a:solidFill>
            </a:endParaRPr>
          </a:p>
        </p:txBody>
      </p:sp>
      <p:pic>
        <p:nvPicPr>
          <p:cNvPr id="121" name="Google Shape;121;p10" title="mermaid-diagram-2026-06-18-1715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91507" y="0"/>
            <a:ext cx="7865047" cy="11163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0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"/>
          <p:cNvSpPr txBox="1"/>
          <p:nvPr/>
        </p:nvSpPr>
        <p:spPr>
          <a:xfrm>
            <a:off x="2074047" y="4490788"/>
            <a:ext cx="15280500" cy="18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50">
                <a:solidFill>
                  <a:srgbClr val="3FAC92"/>
                </a:solidFill>
                <a:latin typeface="Montserrat"/>
                <a:ea typeface="Montserrat"/>
                <a:cs typeface="Montserrat"/>
                <a:sym typeface="Montserrat"/>
              </a:rPr>
              <a:t>The agent interface to the StackQL execution engine</a:t>
            </a:r>
            <a:endParaRPr sz="2000"/>
          </a:p>
        </p:txBody>
      </p:sp>
      <p:sp>
        <p:nvSpPr>
          <p:cNvPr id="128" name="Google Shape;128;p11"/>
          <p:cNvSpPr/>
          <p:nvPr/>
        </p:nvSpPr>
        <p:spPr>
          <a:xfrm>
            <a:off x="2074050" y="1803444"/>
            <a:ext cx="14801700" cy="24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5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STACKQL MCP</a:t>
            </a:r>
            <a:endParaRPr b="1" sz="765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9" name="Google Shape;129;p11"/>
          <p:cNvCxnSpPr/>
          <p:nvPr/>
        </p:nvCxnSpPr>
        <p:spPr>
          <a:xfrm>
            <a:off x="2074050" y="3819179"/>
            <a:ext cx="10301400" cy="1500"/>
          </a:xfrm>
          <a:prstGeom prst="straightConnector1">
            <a:avLst/>
          </a:prstGeom>
          <a:noFill/>
          <a:ln cap="flat" cmpd="sng" w="76200">
            <a:solidFill>
              <a:srgbClr val="3FAC9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11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"/>
          <p:cNvSpPr txBox="1"/>
          <p:nvPr/>
        </p:nvSpPr>
        <p:spPr>
          <a:xfrm>
            <a:off x="1508750" y="1004700"/>
            <a:ext cx="175227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5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WHAT THE STACKQL MCP SERVER IS</a:t>
            </a:r>
            <a:endParaRPr/>
          </a:p>
        </p:txBody>
      </p:sp>
      <p:cxnSp>
        <p:nvCxnSpPr>
          <p:cNvPr id="136" name="Google Shape;136;p12"/>
          <p:cNvCxnSpPr/>
          <p:nvPr/>
        </p:nvCxnSpPr>
        <p:spPr>
          <a:xfrm>
            <a:off x="1587500" y="1964525"/>
            <a:ext cx="13652100" cy="9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" name="Google Shape;137;p12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  <p:sp>
        <p:nvSpPr>
          <p:cNvPr id="138" name="Google Shape;138;p12"/>
          <p:cNvSpPr txBox="1"/>
          <p:nvPr/>
        </p:nvSpPr>
        <p:spPr>
          <a:xfrm>
            <a:off x="1587494" y="2285150"/>
            <a:ext cx="1642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3FAC9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Unified SQL surface over every cloud and SaaS provider.</a:t>
            </a:r>
            <a:endParaRPr sz="4200">
              <a:solidFill>
                <a:srgbClr val="3FAC92"/>
              </a:solidFill>
            </a:endParaRPr>
          </a:p>
        </p:txBody>
      </p:sp>
      <p:pic>
        <p:nvPicPr>
          <p:cNvPr id="139" name="Google Shape;139;p12" title="mermaid-diagram-2026-06-18-1732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743" y="3637562"/>
            <a:ext cx="19507200" cy="626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"/>
          <p:cNvSpPr txBox="1"/>
          <p:nvPr/>
        </p:nvSpPr>
        <p:spPr>
          <a:xfrm>
            <a:off x="1508750" y="1004700"/>
            <a:ext cx="175227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5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 MCP TOOL SURFACE</a:t>
            </a:r>
            <a:endParaRPr/>
          </a:p>
        </p:txBody>
      </p:sp>
      <p:cxnSp>
        <p:nvCxnSpPr>
          <p:cNvPr id="145" name="Google Shape;145;p13"/>
          <p:cNvCxnSpPr/>
          <p:nvPr/>
        </p:nvCxnSpPr>
        <p:spPr>
          <a:xfrm flipH="1" rot="10800000">
            <a:off x="1587500" y="1955525"/>
            <a:ext cx="11290800" cy="9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13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  <p:sp>
        <p:nvSpPr>
          <p:cNvPr id="147" name="Google Shape;147;p13"/>
          <p:cNvSpPr txBox="1"/>
          <p:nvPr/>
        </p:nvSpPr>
        <p:spPr>
          <a:xfrm>
            <a:off x="1496673" y="2285150"/>
            <a:ext cx="1642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3FAC9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One MCP, one set of tools, instead of 10s or 100s</a:t>
            </a:r>
            <a:endParaRPr sz="4200">
              <a:solidFill>
                <a:srgbClr val="3FAC92"/>
              </a:solidFill>
            </a:endParaRPr>
          </a:p>
        </p:txBody>
      </p:sp>
      <p:sp>
        <p:nvSpPr>
          <p:cNvPr id="148" name="Google Shape;148;p13"/>
          <p:cNvSpPr txBox="1"/>
          <p:nvPr/>
        </p:nvSpPr>
        <p:spPr>
          <a:xfrm>
            <a:off x="2332525" y="3465786"/>
            <a:ext cx="15881700" cy="20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920"/>
              </a:lnSpc>
              <a:spcBef>
                <a:spcPts val="767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20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Discovery:</a:t>
            </a: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b="1" lang="en-US" sz="38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list_providers</a:t>
            </a: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b="1" lang="en-US" sz="38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list_services</a:t>
            </a: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b="1" lang="en-US" sz="38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list_resources</a:t>
            </a: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b="1" lang="en-US" sz="38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describe_resource</a:t>
            </a: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b="1" lang="en-US" sz="38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describe_method</a:t>
            </a: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b="1" lang="en-US" sz="38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list_methods</a:t>
            </a: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b="1" lang="en-US" sz="38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list_registry</a:t>
            </a: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b="1" lang="en-US" sz="38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pull_provider</a:t>
            </a: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b="1" lang="en-US" sz="38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server_info</a:t>
            </a: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 sz="4200"/>
          </a:p>
        </p:txBody>
      </p:sp>
      <p:sp>
        <p:nvSpPr>
          <p:cNvPr id="149" name="Google Shape;149;p13"/>
          <p:cNvSpPr/>
          <p:nvPr/>
        </p:nvSpPr>
        <p:spPr>
          <a:xfrm>
            <a:off x="1496613" y="3511709"/>
            <a:ext cx="616800" cy="616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3FAC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3"/>
          <p:cNvSpPr txBox="1"/>
          <p:nvPr/>
        </p:nvSpPr>
        <p:spPr>
          <a:xfrm>
            <a:off x="2321945" y="5775157"/>
            <a:ext cx="15881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920"/>
              </a:lnSpc>
              <a:spcBef>
                <a:spcPts val="7675"/>
              </a:spcBef>
              <a:spcAft>
                <a:spcPts val="0"/>
              </a:spcAft>
              <a:buSzPts val="1100"/>
              <a:buNone/>
            </a:pPr>
            <a:r>
              <a:rPr b="1" lang="en-US" sz="420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Query (reads)</a:t>
            </a:r>
            <a:r>
              <a:rPr b="1" lang="en-US" sz="420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b="1" lang="en-US" sz="38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run_select_query</a:t>
            </a: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b="1" lang="en-US" sz="38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validate_select_query</a:t>
            </a:r>
            <a:endParaRPr sz="4200"/>
          </a:p>
        </p:txBody>
      </p:sp>
      <p:sp>
        <p:nvSpPr>
          <p:cNvPr id="151" name="Google Shape;151;p13"/>
          <p:cNvSpPr/>
          <p:nvPr/>
        </p:nvSpPr>
        <p:spPr>
          <a:xfrm>
            <a:off x="1486032" y="5821079"/>
            <a:ext cx="616800" cy="616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3FAC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3"/>
          <p:cNvSpPr txBox="1"/>
          <p:nvPr/>
        </p:nvSpPr>
        <p:spPr>
          <a:xfrm>
            <a:off x="2332525" y="6882996"/>
            <a:ext cx="17206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920"/>
              </a:lnSpc>
              <a:spcBef>
                <a:spcPts val="7675"/>
              </a:spcBef>
              <a:spcAft>
                <a:spcPts val="0"/>
              </a:spcAft>
              <a:buSzPts val="1100"/>
              <a:buNone/>
            </a:pPr>
            <a:r>
              <a:rPr b="1" lang="en-US" sz="420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Change</a:t>
            </a: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b="1" lang="en-US" sz="420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(writes):</a:t>
            </a: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b="1" lang="en-US" sz="38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run_mutation_query</a:t>
            </a: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b="1" lang="en-US" sz="38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run_lifecycle_operation</a:t>
            </a:r>
            <a:endParaRPr sz="4200"/>
          </a:p>
        </p:txBody>
      </p:sp>
      <p:sp>
        <p:nvSpPr>
          <p:cNvPr id="153" name="Google Shape;153;p13"/>
          <p:cNvSpPr/>
          <p:nvPr/>
        </p:nvSpPr>
        <p:spPr>
          <a:xfrm>
            <a:off x="1496613" y="6928921"/>
            <a:ext cx="616800" cy="616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3FAC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3"/>
          <p:cNvSpPr txBox="1"/>
          <p:nvPr/>
        </p:nvSpPr>
        <p:spPr>
          <a:xfrm>
            <a:off x="1496673" y="7917382"/>
            <a:ext cx="16420800" cy="13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FF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changes gated through </a:t>
            </a:r>
            <a:r>
              <a:rPr b="1" lang="en-US" sz="42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server modes</a:t>
            </a:r>
            <a:r>
              <a:rPr lang="en-US" sz="4200">
                <a:solidFill>
                  <a:srgbClr val="FF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: </a:t>
            </a:r>
            <a:r>
              <a:rPr b="1" lang="en-US" sz="38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read_only</a:t>
            </a:r>
            <a:r>
              <a:rPr lang="en-US" sz="4200">
                <a:solidFill>
                  <a:srgbClr val="FF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(default), </a:t>
            </a:r>
            <a:r>
              <a:rPr lang="en-US" sz="4200">
                <a:solidFill>
                  <a:srgbClr val="FF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b="1" lang="en-US" sz="38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safe</a:t>
            </a:r>
            <a:r>
              <a:rPr lang="en-US" sz="4200">
                <a:solidFill>
                  <a:srgbClr val="FF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&amp;</a:t>
            </a:r>
            <a:r>
              <a:rPr lang="en-US" sz="4200">
                <a:solidFill>
                  <a:srgbClr val="FF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b="1" lang="en-US" sz="38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delete_safe</a:t>
            </a:r>
            <a:r>
              <a:rPr lang="en-US" sz="42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(uses elicitation), </a:t>
            </a:r>
            <a:r>
              <a:rPr lang="en-US" sz="4200">
                <a:solidFill>
                  <a:srgbClr val="FF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b="1" lang="en-US" sz="38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full_access</a:t>
            </a:r>
            <a:endParaRPr sz="4200">
              <a:solidFill>
                <a:srgbClr val="FF0000"/>
              </a:solidFill>
            </a:endParaRPr>
          </a:p>
        </p:txBody>
      </p:sp>
      <p:sp>
        <p:nvSpPr>
          <p:cNvPr id="155" name="Google Shape;155;p13"/>
          <p:cNvSpPr txBox="1"/>
          <p:nvPr/>
        </p:nvSpPr>
        <p:spPr>
          <a:xfrm>
            <a:off x="1496673" y="9654969"/>
            <a:ext cx="1642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all tool use</a:t>
            </a:r>
            <a:r>
              <a:rPr lang="en-US" sz="4200">
                <a:solidFill>
                  <a:srgbClr val="FF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is logged by the stackql mcp server</a:t>
            </a:r>
            <a:endParaRPr sz="4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"/>
          <p:cNvSpPr txBox="1"/>
          <p:nvPr/>
        </p:nvSpPr>
        <p:spPr>
          <a:xfrm>
            <a:off x="2074047" y="4490788"/>
            <a:ext cx="15280500" cy="18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50">
                <a:solidFill>
                  <a:srgbClr val="3FAC92"/>
                </a:solidFill>
                <a:latin typeface="Montserrat"/>
                <a:ea typeface="Montserrat"/>
                <a:cs typeface="Montserrat"/>
                <a:sym typeface="Montserrat"/>
              </a:rPr>
              <a:t>MCP execution, embedded directly into Rust applications </a:t>
            </a:r>
            <a:endParaRPr sz="2000"/>
          </a:p>
        </p:txBody>
      </p:sp>
      <p:sp>
        <p:nvSpPr>
          <p:cNvPr id="161" name="Google Shape;161;p14"/>
          <p:cNvSpPr/>
          <p:nvPr/>
        </p:nvSpPr>
        <p:spPr>
          <a:xfrm>
            <a:off x="2074050" y="1803444"/>
            <a:ext cx="14801700" cy="24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5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EMBEDDED MCP WITH RUST</a:t>
            </a:r>
            <a:endParaRPr b="1" sz="765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2" name="Google Shape;162;p14"/>
          <p:cNvCxnSpPr/>
          <p:nvPr/>
        </p:nvCxnSpPr>
        <p:spPr>
          <a:xfrm flipH="1" rot="10800000">
            <a:off x="2074050" y="3810179"/>
            <a:ext cx="14771400" cy="9000"/>
          </a:xfrm>
          <a:prstGeom prst="straightConnector1">
            <a:avLst/>
          </a:prstGeom>
          <a:noFill/>
          <a:ln cap="flat" cmpd="sng" w="76200">
            <a:solidFill>
              <a:srgbClr val="3FAC9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" name="Google Shape;163;p14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 txBox="1"/>
          <p:nvPr/>
        </p:nvSpPr>
        <p:spPr>
          <a:xfrm>
            <a:off x="1508750" y="1004700"/>
            <a:ext cx="175227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5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SIDECAR VS VENDORED</a:t>
            </a:r>
            <a:endParaRPr/>
          </a:p>
        </p:txBody>
      </p:sp>
      <p:cxnSp>
        <p:nvCxnSpPr>
          <p:cNvPr id="169" name="Google Shape;169;p15"/>
          <p:cNvCxnSpPr/>
          <p:nvPr/>
        </p:nvCxnSpPr>
        <p:spPr>
          <a:xfrm flipH="1" rot="10800000">
            <a:off x="1587500" y="1962425"/>
            <a:ext cx="9074100" cy="2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5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  <p:sp>
        <p:nvSpPr>
          <p:cNvPr id="171" name="Google Shape;171;p15"/>
          <p:cNvSpPr txBox="1"/>
          <p:nvPr/>
        </p:nvSpPr>
        <p:spPr>
          <a:xfrm>
            <a:off x="1496673" y="2087783"/>
            <a:ext cx="1642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3FAC9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Two ways to acquire the server.</a:t>
            </a:r>
            <a:endParaRPr sz="4200">
              <a:solidFill>
                <a:srgbClr val="3FAC92"/>
              </a:solidFill>
            </a:endParaRPr>
          </a:p>
        </p:txBody>
      </p:sp>
      <p:graphicFrame>
        <p:nvGraphicFramePr>
          <p:cNvPr id="172" name="Google Shape;172;p15"/>
          <p:cNvGraphicFramePr/>
          <p:nvPr/>
        </p:nvGraphicFramePr>
        <p:xfrm>
          <a:off x="941450" y="30303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{A3A13234-A77F-4364-8560-6044BAA35EF2}</a:tableStyleId>
              </a:tblPr>
              <a:tblGrid>
                <a:gridCol w="2472150"/>
                <a:gridCol w="3110675"/>
                <a:gridCol w="6169925"/>
                <a:gridCol w="6763850"/>
              </a:tblGrid>
              <a:tr h="2237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6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33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Sidecar  (default feature)</a:t>
                      </a:r>
                      <a:endParaRPr b="1" sz="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33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Vendored  (vendored feature)</a:t>
                      </a:r>
                      <a:endParaRPr b="1" sz="5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108202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087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00">
                          <a:solidFill>
                            <a:srgbClr val="0A4D8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How the server arrives</a:t>
                      </a:r>
                      <a:endParaRPr b="1" sz="2700">
                        <a:solidFill>
                          <a:srgbClr val="0A4D8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downloaded at first run, for the release pinned in the crate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fetched at build time, </a:t>
                      </a: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compiled</a:t>
                      </a: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in with </a:t>
                      </a:r>
                      <a:r>
                        <a:rPr b="1" lang="en-US" sz="3100">
                          <a:solidFill>
                            <a:srgbClr val="0000FF"/>
                          </a:solidFill>
                          <a:highlight>
                            <a:schemeClr val="lt1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include_bundle!()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20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0A4D8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Integrity</a:t>
                      </a:r>
                      <a:endParaRPr b="1" sz="2800">
                        <a:solidFill>
                          <a:srgbClr val="0A4D8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sha256 checked against pins rendered from the release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the bytes are the artefact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20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0A4D8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First run</a:t>
                      </a:r>
                      <a:endParaRPr b="1" sz="2800">
                        <a:solidFill>
                          <a:srgbClr val="0A4D8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download, verify, extract, cache 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extract from the binary into the same cache, launch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20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0A4D8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Network at run time</a:t>
                      </a:r>
                      <a:endParaRPr b="1" sz="2800">
                        <a:solidFill>
                          <a:srgbClr val="0A4D8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first run only (to pull from crates.io)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never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20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0A4D8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Artefact size</a:t>
                      </a:r>
                      <a:endParaRPr b="1" sz="2800">
                        <a:solidFill>
                          <a:srgbClr val="0A4D8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the app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app + ~40 MB (linux, windows)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20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>
                          <a:solidFill>
                            <a:srgbClr val="0A4D8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Choose when</a:t>
                      </a:r>
                      <a:endParaRPr b="1" sz="2800">
                        <a:solidFill>
                          <a:srgbClr val="0A4D8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many apps on one host, one cached server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solidFill>
                            <a:srgbClr val="0A4D8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one-file distribution</a:t>
                      </a:r>
                      <a:endParaRPr sz="2800">
                        <a:solidFill>
                          <a:srgbClr val="0A4D8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"/>
          <p:cNvSpPr/>
          <p:nvPr/>
        </p:nvSpPr>
        <p:spPr>
          <a:xfrm>
            <a:off x="14975625" y="6418125"/>
            <a:ext cx="3812400" cy="461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1508750" y="1004700"/>
            <a:ext cx="175227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5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SIDECAR DETAILED</a:t>
            </a:r>
            <a:endParaRPr/>
          </a:p>
        </p:txBody>
      </p:sp>
      <p:cxnSp>
        <p:nvCxnSpPr>
          <p:cNvPr id="179" name="Google Shape;179;p16"/>
          <p:cNvCxnSpPr/>
          <p:nvPr/>
        </p:nvCxnSpPr>
        <p:spPr>
          <a:xfrm flipH="1" rot="10800000">
            <a:off x="1587500" y="1945025"/>
            <a:ext cx="7235100" cy="19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16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  <p:sp>
        <p:nvSpPr>
          <p:cNvPr id="181" name="Google Shape;181;p16"/>
          <p:cNvSpPr txBox="1"/>
          <p:nvPr/>
        </p:nvSpPr>
        <p:spPr>
          <a:xfrm>
            <a:off x="1496673" y="2087783"/>
            <a:ext cx="1642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3FAC9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Cargo update and builder call to a connected MCP client.</a:t>
            </a:r>
            <a:endParaRPr sz="4200">
              <a:solidFill>
                <a:srgbClr val="3FAC92"/>
              </a:solidFill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459700" y="3111825"/>
            <a:ext cx="13225200" cy="7638300"/>
          </a:xfrm>
          <a:prstGeom prst="roundRect">
            <a:avLst>
              <a:gd fmla="val 5841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565800" y="3253275"/>
            <a:ext cx="13030800" cy="72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2200">
                <a:solidFill>
                  <a:srgbClr val="708090"/>
                </a:solidFill>
                <a:latin typeface="Courier New"/>
                <a:ea typeface="Courier New"/>
                <a:cs typeface="Courier New"/>
                <a:sym typeface="Courier New"/>
              </a:rPr>
              <a:t># Cargo.toml</a:t>
            </a:r>
            <a:endParaRPr b="1" i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[dependencies]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stackql-mcp = </a:t>
            </a:r>
            <a:r>
              <a:rPr b="1" lang="en-US" sz="22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"0.10" 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i="1" lang="en-US" sz="2200">
                <a:solidFill>
                  <a:srgbClr val="708090"/>
                </a:solidFill>
                <a:latin typeface="Courier New"/>
                <a:ea typeface="Courier New"/>
                <a:cs typeface="Courier New"/>
                <a:sym typeface="Courier New"/>
              </a:rPr>
              <a:t># sidecar is the default feature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tokio = { version = </a:t>
            </a:r>
            <a:r>
              <a:rPr b="1" lang="en-US" sz="22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"1"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, features = [</a:t>
            </a:r>
            <a:r>
              <a:rPr b="1" lang="en-US" sz="22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"macros"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-US" sz="22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"rt-multi-thread"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] }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serde_json = </a:t>
            </a:r>
            <a:r>
              <a:rPr b="1" lang="en-US" sz="22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"1"</a:t>
            </a:r>
            <a:endParaRPr b="1" sz="2200"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2200">
                <a:solidFill>
                  <a:srgbClr val="708090"/>
                </a:solidFill>
                <a:latin typeface="Courier New"/>
                <a:ea typeface="Courier New"/>
                <a:cs typeface="Courier New"/>
                <a:sym typeface="Courier New"/>
              </a:rPr>
              <a:t>// main.rs</a:t>
            </a:r>
            <a:endParaRPr b="1" i="1" sz="2200">
              <a:solidFill>
                <a:srgbClr val="70809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use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 stackql_mcp::{Mode, StackqlMcp};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9A6E3A"/>
                </a:solidFill>
                <a:latin typeface="Courier New"/>
                <a:ea typeface="Courier New"/>
                <a:cs typeface="Courier New"/>
                <a:sym typeface="Courier New"/>
              </a:rPr>
              <a:t>#[tokio::main]</a:t>
            </a:r>
            <a:endParaRPr b="1" sz="2200">
              <a:solidFill>
                <a:srgbClr val="9A6E3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async fn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 main() -&gt; anyhow::</a:t>
            </a:r>
            <a:r>
              <a:rPr b="1" lang="en-US" sz="2200">
                <a:solidFill>
                  <a:srgbClr val="2F8F9D"/>
                </a:solidFill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&lt;()&gt; {</a:t>
            </a:r>
            <a:endParaRPr b="1" sz="2200">
              <a:solidFill>
                <a:srgbClr val="2F8F9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-US" sz="2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 server = </a:t>
            </a:r>
            <a:r>
              <a:rPr b="1" lang="en-US" sz="2200">
                <a:solidFill>
                  <a:srgbClr val="2F8F9D"/>
                </a:solidFill>
                <a:latin typeface="Courier New"/>
                <a:ea typeface="Courier New"/>
                <a:cs typeface="Courier New"/>
                <a:sym typeface="Courier New"/>
              </a:rPr>
              <a:t>StackqlMcp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b="1" lang="en-US" sz="2200">
                <a:solidFill>
                  <a:srgbClr val="DD4A68"/>
                </a:solidFill>
                <a:latin typeface="Courier New"/>
                <a:ea typeface="Courier New"/>
                <a:cs typeface="Courier New"/>
                <a:sym typeface="Courier New"/>
              </a:rPr>
              <a:t>builder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        .</a:t>
            </a:r>
            <a:r>
              <a:rPr b="1" lang="en-US" sz="2200">
                <a:solidFill>
                  <a:srgbClr val="DD4A68"/>
                </a:solidFill>
                <a:latin typeface="Courier New"/>
                <a:ea typeface="Courier New"/>
                <a:cs typeface="Courier New"/>
                <a:sym typeface="Courier New"/>
              </a:rPr>
              <a:t>mode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-US" sz="2200">
                <a:solidFill>
                  <a:srgbClr val="2F8F9D"/>
                </a:solidFill>
                <a:latin typeface="Courier New"/>
                <a:ea typeface="Courier New"/>
                <a:cs typeface="Courier New"/>
                <a:sym typeface="Courier New"/>
              </a:rPr>
              <a:t>Mode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b="1" lang="en-US" sz="2200">
                <a:solidFill>
                  <a:srgbClr val="2F8F9D"/>
                </a:solidFill>
                <a:latin typeface="Courier New"/>
                <a:ea typeface="Courier New"/>
                <a:cs typeface="Courier New"/>
                <a:sym typeface="Courier New"/>
              </a:rPr>
              <a:t>ReadOnly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)          </a:t>
            </a:r>
            <a:r>
              <a:rPr b="1" i="1" lang="en-US" sz="2200">
                <a:solidFill>
                  <a:srgbClr val="708090"/>
                </a:solidFill>
                <a:latin typeface="Courier New"/>
                <a:ea typeface="Courier New"/>
                <a:cs typeface="Courier New"/>
                <a:sym typeface="Courier New"/>
              </a:rPr>
              <a:t>// writes refused server-side</a:t>
            </a:r>
            <a:endParaRPr b="1" i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        .</a:t>
            </a:r>
            <a:r>
              <a:rPr b="1" lang="en-US" sz="2200">
                <a:solidFill>
                  <a:srgbClr val="DD4A68"/>
                </a:solidFill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()                        </a:t>
            </a:r>
            <a:r>
              <a:rPr b="1" i="1" lang="en-US" sz="2200">
                <a:solidFill>
                  <a:srgbClr val="708090"/>
                </a:solidFill>
                <a:latin typeface="Courier New"/>
                <a:ea typeface="Courier New"/>
                <a:cs typeface="Courier New"/>
                <a:sym typeface="Courier New"/>
              </a:rPr>
              <a:t>// acquire, verify, spawn, handshake</a:t>
            </a:r>
            <a:endParaRPr b="1" i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        .</a:t>
            </a:r>
            <a:r>
              <a:rPr b="1" lang="en-US" sz="2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?;                        </a:t>
            </a:r>
            <a:r>
              <a:rPr b="1" i="1" lang="en-US" sz="2200">
                <a:solidFill>
                  <a:srgbClr val="708090"/>
                </a:solidFill>
                <a:latin typeface="Courier New"/>
                <a:ea typeface="Courier New"/>
                <a:cs typeface="Courier New"/>
                <a:sym typeface="Courier New"/>
              </a:rPr>
              <a:t>// -&gt; a connected rmcp client</a:t>
            </a:r>
            <a:endParaRPr b="1" i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-US" sz="2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 tools = server.</a:t>
            </a:r>
            <a:r>
              <a:rPr b="1" lang="en-US" sz="2200">
                <a:solidFill>
                  <a:srgbClr val="DD4A68"/>
                </a:solidFill>
                <a:latin typeface="Courier New"/>
                <a:ea typeface="Courier New"/>
                <a:cs typeface="Courier New"/>
                <a:sym typeface="Courier New"/>
              </a:rPr>
              <a:t>list_all_tools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b="1" lang="en-US" sz="2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?;   </a:t>
            </a:r>
            <a:r>
              <a:rPr b="1" i="1" lang="en-US" sz="2200">
                <a:solidFill>
                  <a:srgbClr val="708090"/>
                </a:solidFill>
                <a:latin typeface="Courier New"/>
                <a:ea typeface="Courier New"/>
                <a:cs typeface="Courier New"/>
                <a:sym typeface="Courier New"/>
              </a:rPr>
              <a:t>// 16 StackQL tools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    server.</a:t>
            </a:r>
            <a:r>
              <a:rPr b="1" lang="en-US" sz="2200">
                <a:solidFill>
                  <a:srgbClr val="DD4A68"/>
                </a:solidFill>
                <a:latin typeface="Courier New"/>
                <a:ea typeface="Courier New"/>
                <a:cs typeface="Courier New"/>
                <a:sym typeface="Courier New"/>
              </a:rPr>
              <a:t>shutdown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b="1" lang="en-US" sz="2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?;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    Ok(())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14056225" y="3708200"/>
            <a:ext cx="5500200" cy="10962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cached?  </a:t>
            </a: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~/.stackql/mcp-server-bin/&lt;ver&gt;/&lt;os&gt;/</a:t>
            </a:r>
            <a:endParaRPr b="1" sz="18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14056225" y="5496874"/>
            <a:ext cx="5500200" cy="10962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download </a:t>
            </a: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.mcpb</a:t>
            </a:r>
            <a:r>
              <a:rPr b="1" lang="en-US" sz="2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from releases.stackql.io, verify sha256 against the pin in the crate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14056225" y="7285549"/>
            <a:ext cx="5500200" cy="10962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spawn </a:t>
            </a: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stackql mcp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 over stdio, MCP initialize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/>
          <p:nvPr/>
        </p:nvSpPr>
        <p:spPr>
          <a:xfrm>
            <a:off x="14056225" y="9074223"/>
            <a:ext cx="5500200" cy="10962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Calibri"/>
                <a:ea typeface="Calibri"/>
                <a:cs typeface="Calibri"/>
                <a:sym typeface="Calibri"/>
              </a:rPr>
              <a:t>RunningServer: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 a connected rmcp client </a:t>
            </a: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list_all_tools()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call_tool()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shutdown()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6"/>
          <p:cNvSpPr txBox="1"/>
          <p:nvPr/>
        </p:nvSpPr>
        <p:spPr>
          <a:xfrm>
            <a:off x="14030425" y="2876927"/>
            <a:ext cx="5551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</a:t>
            </a:r>
            <a:r>
              <a:rPr lang="en-US" sz="28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b="1" lang="en-US" sz="2700">
                <a:solidFill>
                  <a:srgbClr val="DD4A68"/>
                </a:solidFill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r>
              <a:rPr b="1" lang="en-US" sz="2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-US" sz="28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does…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p16"/>
          <p:cNvCxnSpPr/>
          <p:nvPr/>
        </p:nvCxnSpPr>
        <p:spPr>
          <a:xfrm>
            <a:off x="14975625" y="4791500"/>
            <a:ext cx="0" cy="74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16"/>
          <p:cNvCxnSpPr/>
          <p:nvPr/>
        </p:nvCxnSpPr>
        <p:spPr>
          <a:xfrm>
            <a:off x="18787950" y="4791500"/>
            <a:ext cx="0" cy="74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16"/>
          <p:cNvCxnSpPr/>
          <p:nvPr/>
        </p:nvCxnSpPr>
        <p:spPr>
          <a:xfrm flipH="1">
            <a:off x="16840825" y="6877983"/>
            <a:ext cx="9000" cy="466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" name="Google Shape;192;p16"/>
          <p:cNvCxnSpPr/>
          <p:nvPr/>
        </p:nvCxnSpPr>
        <p:spPr>
          <a:xfrm>
            <a:off x="16845325" y="8381750"/>
            <a:ext cx="0" cy="74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3" name="Google Shape;193;p16"/>
          <p:cNvSpPr txBox="1"/>
          <p:nvPr/>
        </p:nvSpPr>
        <p:spPr>
          <a:xfrm>
            <a:off x="14975610" y="4915275"/>
            <a:ext cx="53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No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6"/>
          <p:cNvSpPr txBox="1"/>
          <p:nvPr/>
        </p:nvSpPr>
        <p:spPr>
          <a:xfrm>
            <a:off x="18787960" y="4955149"/>
            <a:ext cx="53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Yes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"/>
          <p:cNvSpPr/>
          <p:nvPr/>
        </p:nvSpPr>
        <p:spPr>
          <a:xfrm>
            <a:off x="14975625" y="8221565"/>
            <a:ext cx="3812400" cy="461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 txBox="1"/>
          <p:nvPr/>
        </p:nvSpPr>
        <p:spPr>
          <a:xfrm>
            <a:off x="1508750" y="1004700"/>
            <a:ext cx="175227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8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5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VENDORED </a:t>
            </a:r>
            <a:r>
              <a:rPr b="1" lang="en-US" sz="565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DETAILED</a:t>
            </a:r>
            <a:endParaRPr/>
          </a:p>
        </p:txBody>
      </p:sp>
      <p:cxnSp>
        <p:nvCxnSpPr>
          <p:cNvPr id="201" name="Google Shape;201;p17"/>
          <p:cNvCxnSpPr/>
          <p:nvPr/>
        </p:nvCxnSpPr>
        <p:spPr>
          <a:xfrm flipH="1" rot="10800000">
            <a:off x="1587500" y="1957325"/>
            <a:ext cx="8461800" cy="7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" name="Google Shape;202;p17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  <p:sp>
        <p:nvSpPr>
          <p:cNvPr id="203" name="Google Shape;203;p17"/>
          <p:cNvSpPr txBox="1"/>
          <p:nvPr/>
        </p:nvSpPr>
        <p:spPr>
          <a:xfrm>
            <a:off x="1496673" y="2087783"/>
            <a:ext cx="16420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7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3FAC9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Same program, server compiled in</a:t>
            </a:r>
            <a:endParaRPr sz="4200">
              <a:solidFill>
                <a:srgbClr val="3FAC92"/>
              </a:solidFill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459700" y="3111825"/>
            <a:ext cx="13225200" cy="7638300"/>
          </a:xfrm>
          <a:prstGeom prst="roundRect">
            <a:avLst>
              <a:gd fmla="val 5841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 txBox="1"/>
          <p:nvPr/>
        </p:nvSpPr>
        <p:spPr>
          <a:xfrm>
            <a:off x="565800" y="3253275"/>
            <a:ext cx="13030800" cy="6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00">
                <a:solidFill>
                  <a:srgbClr val="708090"/>
                </a:solidFill>
                <a:latin typeface="Courier New"/>
                <a:ea typeface="Courier New"/>
                <a:cs typeface="Courier New"/>
                <a:sym typeface="Courier New"/>
              </a:rPr>
              <a:t># Cargo.toml</a:t>
            </a:r>
            <a:endParaRPr b="1" i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[dependencies]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stackql-mcp = { version = </a:t>
            </a:r>
            <a:r>
              <a:rPr b="1" lang="en-US" sz="22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"0.10"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, features = [</a:t>
            </a:r>
            <a:r>
              <a:rPr b="1" lang="en-US" sz="22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"vendored"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] }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[build-dependencies]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stackql-mcp = { version =</a:t>
            </a:r>
            <a:r>
              <a:rPr b="1" lang="en-US" sz="22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 "0.10"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, features = [</a:t>
            </a:r>
            <a:r>
              <a:rPr b="1" lang="en-US" sz="22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"sidecar"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] } </a:t>
            </a:r>
            <a:r>
              <a:rPr b="1" i="1" lang="en-US" sz="2200">
                <a:solidFill>
                  <a:srgbClr val="708090"/>
                </a:solidFill>
                <a:latin typeface="Courier New"/>
                <a:ea typeface="Courier New"/>
                <a:cs typeface="Courier New"/>
                <a:sym typeface="Courier New"/>
              </a:rPr>
              <a:t> # for build.rs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2200">
                <a:solidFill>
                  <a:srgbClr val="708090"/>
                </a:solidFill>
                <a:latin typeface="Courier New"/>
                <a:ea typeface="Courier New"/>
                <a:cs typeface="Courier New"/>
                <a:sym typeface="Courier New"/>
              </a:rPr>
              <a:t>// build.rs: fetch the pinned bundle once for include_bundle!()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fn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 main() {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-US" sz="2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 path = stackql_mcp::</a:t>
            </a:r>
            <a:r>
              <a:rPr b="1" lang="en-US" sz="2200">
                <a:solidFill>
                  <a:srgbClr val="DD4A68"/>
                </a:solidFill>
                <a:latin typeface="Courier New"/>
                <a:ea typeface="Courier New"/>
                <a:cs typeface="Courier New"/>
                <a:sym typeface="Courier New"/>
              </a:rPr>
              <a:t>fetch_bundle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().</a:t>
            </a:r>
            <a:r>
              <a:rPr b="1" lang="en-US" sz="2200">
                <a:solidFill>
                  <a:srgbClr val="DD4A68"/>
                </a:solidFill>
                <a:latin typeface="Courier New"/>
                <a:ea typeface="Courier New"/>
                <a:cs typeface="Courier New"/>
                <a:sym typeface="Courier New"/>
              </a:rPr>
              <a:t>unwrap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b="1" lang="en-US" sz="220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println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!(</a:t>
            </a:r>
            <a:r>
              <a:rPr b="1" lang="en-US" sz="2200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"cargo:rustc-env=STACKQL_MCP_BUNDLE_FILE={}"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, path.</a:t>
            </a:r>
            <a:r>
              <a:rPr b="1" lang="en-US" sz="2200">
                <a:solidFill>
                  <a:srgbClr val="DD4A68"/>
                </a:solidFill>
                <a:latin typeface="Courier New"/>
                <a:ea typeface="Courier New"/>
                <a:cs typeface="Courier New"/>
                <a:sym typeface="Courier New"/>
              </a:rPr>
              <a:t>display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2200">
                <a:solidFill>
                  <a:srgbClr val="708090"/>
                </a:solidFill>
                <a:latin typeface="Courier New"/>
                <a:ea typeface="Courier New"/>
                <a:cs typeface="Courier New"/>
                <a:sym typeface="Courier New"/>
              </a:rPr>
              <a:t>// main.rs: identical to the sidecar program, plus one line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 server = </a:t>
            </a:r>
            <a:r>
              <a:rPr b="1" lang="en-US" sz="2200">
                <a:solidFill>
                  <a:srgbClr val="2F8F9D"/>
                </a:solidFill>
                <a:latin typeface="Courier New"/>
                <a:ea typeface="Courier New"/>
                <a:cs typeface="Courier New"/>
                <a:sym typeface="Courier New"/>
              </a:rPr>
              <a:t>StackqlMcp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b="1" lang="en-US" sz="2200">
                <a:solidFill>
                  <a:srgbClr val="DD4A68"/>
                </a:solidFill>
                <a:latin typeface="Courier New"/>
                <a:ea typeface="Courier New"/>
                <a:cs typeface="Courier New"/>
                <a:sym typeface="Courier New"/>
              </a:rPr>
              <a:t>builder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    .</a:t>
            </a:r>
            <a:r>
              <a:rPr b="1" lang="en-US" sz="2200">
                <a:solidFill>
                  <a:srgbClr val="DD4A68"/>
                </a:solidFill>
                <a:latin typeface="Courier New"/>
                <a:ea typeface="Courier New"/>
                <a:cs typeface="Courier New"/>
                <a:sym typeface="Courier New"/>
              </a:rPr>
              <a:t>mode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-US" sz="2200">
                <a:solidFill>
                  <a:srgbClr val="2F8F9D"/>
                </a:solidFill>
                <a:latin typeface="Courier New"/>
                <a:ea typeface="Courier New"/>
                <a:cs typeface="Courier New"/>
                <a:sym typeface="Courier New"/>
              </a:rPr>
              <a:t>Mode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b="1" lang="en-US" sz="2200">
                <a:solidFill>
                  <a:srgbClr val="2F8F9D"/>
                </a:solidFill>
                <a:latin typeface="Courier New"/>
                <a:ea typeface="Courier New"/>
                <a:cs typeface="Courier New"/>
                <a:sym typeface="Courier New"/>
              </a:rPr>
              <a:t>ReadOnly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    .</a:t>
            </a:r>
            <a:r>
              <a:rPr b="1" lang="en-US" sz="2200">
                <a:solidFill>
                  <a:srgbClr val="DD4A68"/>
                </a:solidFill>
                <a:latin typeface="Courier New"/>
                <a:ea typeface="Courier New"/>
                <a:cs typeface="Courier New"/>
                <a:sym typeface="Courier New"/>
              </a:rPr>
              <a:t>bundle_bytes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(stackql_mcp::</a:t>
            </a:r>
            <a:r>
              <a:rPr b="1" lang="en-US" sz="220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include_bundle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!())   </a:t>
            </a:r>
            <a:r>
              <a:rPr b="1" i="1" lang="en-US" sz="2200">
                <a:solidFill>
                  <a:srgbClr val="708090"/>
                </a:solidFill>
                <a:latin typeface="Courier New"/>
                <a:ea typeface="Courier New"/>
                <a:cs typeface="Courier New"/>
                <a:sym typeface="Courier New"/>
              </a:rPr>
              <a:t>// &lt;- the only change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    .</a:t>
            </a:r>
            <a:r>
              <a:rPr b="1" lang="en-US" sz="2200">
                <a:solidFill>
                  <a:srgbClr val="DD4A68"/>
                </a:solidFill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    .</a:t>
            </a:r>
            <a:r>
              <a:rPr b="1" lang="en-US" sz="2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await</a:t>
            </a: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?;</a:t>
            </a:r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 txBox="1"/>
          <p:nvPr/>
        </p:nvSpPr>
        <p:spPr>
          <a:xfrm>
            <a:off x="13844050" y="1922175"/>
            <a:ext cx="6135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what </a:t>
            </a:r>
            <a:endParaRPr sz="2800">
              <a:solidFill>
                <a:srgbClr val="0A4D8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cargo build --features vendored</a:t>
            </a:r>
            <a:r>
              <a:rPr lang="en-US" sz="28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 sz="2800">
              <a:solidFill>
                <a:srgbClr val="0A4D8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A4D8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does...</a:t>
            </a:r>
            <a:endParaRPr sz="2800">
              <a:solidFill>
                <a:srgbClr val="0A4D8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14056225" y="3708200"/>
            <a:ext cx="5500200" cy="10962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build.rs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fetch_bundle()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 downloads the </a:t>
            </a: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.mcpb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 from releases.stackql.io, verifies sha256, once</a:t>
            </a:r>
            <a:endParaRPr b="1" sz="18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8" name="Google Shape;208;p17"/>
          <p:cNvSpPr/>
          <p:nvPr/>
        </p:nvSpPr>
        <p:spPr>
          <a:xfrm>
            <a:off x="14056225" y="5496874"/>
            <a:ext cx="5500200" cy="10962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include_bundle!()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 compiles the bytes in: one binary, app + StackQL engine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7"/>
          <p:cNvSpPr/>
          <p:nvPr/>
        </p:nvSpPr>
        <p:spPr>
          <a:xfrm>
            <a:off x="14056225" y="7285549"/>
            <a:ext cx="5500200" cy="10962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extracted?  </a:t>
            </a: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~/.stackql/mcp-server-bin/vendored/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14056225" y="9127265"/>
            <a:ext cx="5500200" cy="10962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spawn </a:t>
            </a:r>
            <a:r>
              <a:rPr b="1" lang="en-US" sz="18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stackql mcp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 over stdio, MCP initialize </a:t>
            </a:r>
            <a:r>
              <a:rPr b="1" lang="en-US" sz="2200">
                <a:latin typeface="Calibri"/>
                <a:ea typeface="Calibri"/>
                <a:cs typeface="Calibri"/>
                <a:sym typeface="Calibri"/>
              </a:rPr>
              <a:t>RunningServer: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 a connected rmcp client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" name="Google Shape;211;p17"/>
          <p:cNvCxnSpPr/>
          <p:nvPr/>
        </p:nvCxnSpPr>
        <p:spPr>
          <a:xfrm flipH="1">
            <a:off x="16840825" y="8681423"/>
            <a:ext cx="9000" cy="466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2" name="Google Shape;212;p17"/>
          <p:cNvSpPr/>
          <p:nvPr/>
        </p:nvSpPr>
        <p:spPr>
          <a:xfrm>
            <a:off x="15223154" y="8557708"/>
            <a:ext cx="1414500" cy="27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no -&gt; extract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7"/>
          <p:cNvSpPr/>
          <p:nvPr/>
        </p:nvSpPr>
        <p:spPr>
          <a:xfrm>
            <a:off x="17415577" y="8535353"/>
            <a:ext cx="682800" cy="273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yes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17"/>
          <p:cNvCxnSpPr/>
          <p:nvPr/>
        </p:nvCxnSpPr>
        <p:spPr>
          <a:xfrm>
            <a:off x="16806325" y="6594588"/>
            <a:ext cx="0" cy="74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5" name="Google Shape;215;p17"/>
          <p:cNvCxnSpPr/>
          <p:nvPr/>
        </p:nvCxnSpPr>
        <p:spPr>
          <a:xfrm>
            <a:off x="16806325" y="4804388"/>
            <a:ext cx="0" cy="742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"/>
          <p:cNvSpPr/>
          <p:nvPr/>
        </p:nvSpPr>
        <p:spPr>
          <a:xfrm>
            <a:off x="2074050" y="2422272"/>
            <a:ext cx="14801700" cy="246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65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DEMO</a:t>
            </a:r>
            <a:endParaRPr b="1" sz="765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1" name="Google Shape;221;p18"/>
          <p:cNvCxnSpPr/>
          <p:nvPr/>
        </p:nvCxnSpPr>
        <p:spPr>
          <a:xfrm>
            <a:off x="2074050" y="4466475"/>
            <a:ext cx="3238500" cy="7200"/>
          </a:xfrm>
          <a:prstGeom prst="straightConnector1">
            <a:avLst/>
          </a:prstGeom>
          <a:noFill/>
          <a:ln cap="flat" cmpd="sng" w="76200">
            <a:solidFill>
              <a:srgbClr val="3FAC9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18"/>
          <p:cNvSpPr txBox="1"/>
          <p:nvPr/>
        </p:nvSpPr>
        <p:spPr>
          <a:xfrm>
            <a:off x="17830800" y="10515600"/>
            <a:ext cx="1707900" cy="461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9"/>
          <p:cNvSpPr/>
          <p:nvPr/>
        </p:nvSpPr>
        <p:spPr>
          <a:xfrm>
            <a:off x="3482275" y="6839566"/>
            <a:ext cx="3013200" cy="66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 txBox="1"/>
          <p:nvPr/>
        </p:nvSpPr>
        <p:spPr>
          <a:xfrm>
            <a:off x="3482275" y="6941566"/>
            <a:ext cx="301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COMPLIANCE</a:t>
            </a:r>
            <a:endParaRPr sz="2400"/>
          </a:p>
        </p:txBody>
      </p:sp>
      <p:sp>
        <p:nvSpPr>
          <p:cNvPr id="229" name="Google Shape;229;p19"/>
          <p:cNvSpPr/>
          <p:nvPr/>
        </p:nvSpPr>
        <p:spPr>
          <a:xfrm>
            <a:off x="1210700" y="6839566"/>
            <a:ext cx="2089500" cy="66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1210750" y="6941566"/>
            <a:ext cx="208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CLOUD</a:t>
            </a:r>
            <a:endParaRPr sz="2400"/>
          </a:p>
        </p:txBody>
      </p:sp>
      <p:sp>
        <p:nvSpPr>
          <p:cNvPr id="231" name="Google Shape;231;p19"/>
          <p:cNvSpPr/>
          <p:nvPr/>
        </p:nvSpPr>
        <p:spPr>
          <a:xfrm>
            <a:off x="4736300" y="7738266"/>
            <a:ext cx="3107100" cy="66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 txBox="1"/>
          <p:nvPr/>
        </p:nvSpPr>
        <p:spPr>
          <a:xfrm>
            <a:off x="4736300" y="7840266"/>
            <a:ext cx="310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ASSURANCE</a:t>
            </a:r>
            <a:endParaRPr sz="2400"/>
          </a:p>
        </p:txBody>
      </p:sp>
      <p:sp>
        <p:nvSpPr>
          <p:cNvPr id="233" name="Google Shape;233;p19"/>
          <p:cNvSpPr/>
          <p:nvPr/>
        </p:nvSpPr>
        <p:spPr>
          <a:xfrm>
            <a:off x="1210700" y="7738266"/>
            <a:ext cx="3272400" cy="66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 txBox="1"/>
          <p:nvPr/>
        </p:nvSpPr>
        <p:spPr>
          <a:xfrm>
            <a:off x="1210700" y="7840266"/>
            <a:ext cx="32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AUTOMATION</a:t>
            </a:r>
            <a:endParaRPr sz="2400"/>
          </a:p>
        </p:txBody>
      </p:sp>
      <p:pic>
        <p:nvPicPr>
          <p:cNvPr id="235" name="Google Shape;235;p19" title="STACKQL_LOGO_white.jpg"/>
          <p:cNvPicPr preferRelativeResize="0"/>
          <p:nvPr/>
        </p:nvPicPr>
        <p:blipFill rotWithShape="1">
          <a:blip r:embed="rId3">
            <a:alphaModFix/>
          </a:blip>
          <a:srcRect b="27897" l="11908" r="11270" t="29925"/>
          <a:stretch/>
        </p:blipFill>
        <p:spPr>
          <a:xfrm>
            <a:off x="1215000" y="4271450"/>
            <a:ext cx="11403925" cy="187832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9"/>
          <p:cNvSpPr/>
          <p:nvPr/>
        </p:nvSpPr>
        <p:spPr>
          <a:xfrm>
            <a:off x="6677500" y="6839566"/>
            <a:ext cx="2238900" cy="66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9"/>
          <p:cNvSpPr txBox="1"/>
          <p:nvPr/>
        </p:nvSpPr>
        <p:spPr>
          <a:xfrm>
            <a:off x="6677500" y="6941566"/>
            <a:ext cx="223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SECURITY</a:t>
            </a:r>
            <a:endParaRPr sz="2400"/>
          </a:p>
        </p:txBody>
      </p:sp>
      <p:sp>
        <p:nvSpPr>
          <p:cNvPr id="238" name="Google Shape;238;p19"/>
          <p:cNvSpPr/>
          <p:nvPr/>
        </p:nvSpPr>
        <p:spPr>
          <a:xfrm>
            <a:off x="8096601" y="7738270"/>
            <a:ext cx="2780400" cy="665700"/>
          </a:xfrm>
          <a:prstGeom prst="rect">
            <a:avLst/>
          </a:prstGeom>
          <a:solidFill>
            <a:srgbClr val="3FAC9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8096601" y="7840270"/>
            <a:ext cx="2780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sz="2400"/>
          </a:p>
        </p:txBody>
      </p:sp>
      <p:sp>
        <p:nvSpPr>
          <p:cNvPr id="240" name="Google Shape;240;p19"/>
          <p:cNvSpPr txBox="1"/>
          <p:nvPr/>
        </p:nvSpPr>
        <p:spPr>
          <a:xfrm>
            <a:off x="17145000" y="10357475"/>
            <a:ext cx="208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6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3FAC92"/>
                </a:solidFill>
                <a:latin typeface="Montserrat"/>
                <a:ea typeface="Montserrat"/>
                <a:cs typeface="Montserrat"/>
                <a:sym typeface="Montserrat"/>
              </a:rPr>
              <a:t>stackql.io</a:t>
            </a:r>
            <a:endParaRPr/>
          </a:p>
        </p:txBody>
      </p:sp>
      <p:sp>
        <p:nvSpPr>
          <p:cNvPr id="241" name="Google Shape;241;p19"/>
          <p:cNvSpPr/>
          <p:nvPr/>
        </p:nvSpPr>
        <p:spPr>
          <a:xfrm>
            <a:off x="9098425" y="6839566"/>
            <a:ext cx="2089500" cy="66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9098475" y="6941566"/>
            <a:ext cx="208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sz="2400"/>
          </a:p>
        </p:txBody>
      </p:sp>
      <p:pic>
        <p:nvPicPr>
          <p:cNvPr id="243" name="Google Shape;24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94525" y="4183050"/>
            <a:ext cx="3966650" cy="396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9"/>
          <p:cNvSpPr txBox="1"/>
          <p:nvPr/>
        </p:nvSpPr>
        <p:spPr>
          <a:xfrm>
            <a:off x="1214993" y="10372925"/>
            <a:ext cx="1707900" cy="461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A4D81"/>
                </a:solidFill>
                <a:latin typeface="Montserrat"/>
                <a:ea typeface="Montserrat"/>
                <a:cs typeface="Montserrat"/>
                <a:sym typeface="Montserrat"/>
              </a:rPr>
              <a:t>STACKQL&gt;&gt;</a:t>
            </a:r>
            <a:endParaRPr sz="1800">
              <a:solidFill>
                <a:srgbClr val="0A4D81"/>
              </a:solidFill>
            </a:endParaRPr>
          </a:p>
        </p:txBody>
      </p:sp>
      <p:pic>
        <p:nvPicPr>
          <p:cNvPr id="245" name="Google Shape;245;p19" title="aaif_memberbadge_silve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90125" y="6715825"/>
            <a:ext cx="1878323" cy="1878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eme Office">
  <a:themeElements>
    <a:clrScheme name="Standard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